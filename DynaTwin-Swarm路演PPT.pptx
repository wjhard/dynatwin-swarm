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alphaModFix amt="9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3800" y="685800"/>
            <a:ext cx="3977640" cy="397764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658368" y="713232"/>
            <a:ext cx="3246120" cy="310896"/>
          </a:xfrm>
          <a:prstGeom prst="roundRect">
            <a:avLst>
              <a:gd name="adj" fmla="val 17647"/>
            </a:avLst>
          </a:prstGeom>
          <a:solidFill>
            <a:srgbClr val="06284A">
              <a:alpha val="92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" y="777240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2026贵州省人工智能创业大赛 · 昇腾AI创新赛题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658368" y="150876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</a:t>
            </a:r>
            <a:endParaRPr lang="en-US" sz="5400" dirty="0"/>
          </a:p>
        </p:txBody>
      </p:sp>
      <p:sp>
        <p:nvSpPr>
          <p:cNvPr id="39" name="Text 36"/>
          <p:cNvSpPr/>
          <p:nvPr/>
        </p:nvSpPr>
        <p:spPr>
          <a:xfrm>
            <a:off x="713232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工业数字孪生智能排产系统</a:t>
            </a:r>
            <a:endParaRPr lang="en-US" sz="2600" dirty="0"/>
          </a:p>
        </p:txBody>
      </p:sp>
      <p:sp>
        <p:nvSpPr>
          <p:cNvPr id="40" name="Shape 37"/>
          <p:cNvSpPr/>
          <p:nvPr/>
        </p:nvSpPr>
        <p:spPr>
          <a:xfrm>
            <a:off x="713232" y="2944368"/>
            <a:ext cx="38862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9808" y="32918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基于EMNLP 2025顶会论文工程化实现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 深度集成华为昇腾AI技术体系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贵州磷化工/矿山工业场景适配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31520" y="5989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贵州大学 · 网络与信息安全 · 王骏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275320" y="1389888"/>
            <a:ext cx="2560320" cy="2560320"/>
          </a:xfrm>
          <a:prstGeom prst="ellipse">
            <a:avLst/>
          </a:prstGeom>
          <a:solidFill>
            <a:srgbClr val="00D4FF">
              <a:alpha val="0"/>
            </a:srgbClr>
          </a:solidFill>
          <a:ln w="279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41080" y="1755648"/>
            <a:ext cx="1828800" cy="1828800"/>
          </a:xfrm>
          <a:prstGeom prst="ellipse">
            <a:avLst/>
          </a:prstGeom>
          <a:solidFill>
            <a:srgbClr val="7B61FF">
              <a:alpha val="0"/>
            </a:srgbClr>
          </a:solidFill>
          <a:ln w="27940">
            <a:solidFill>
              <a:srgbClr val="7B61FF">
                <a:alpha val="58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29700" y="2144268"/>
            <a:ext cx="1051560" cy="1051560"/>
          </a:xfrm>
          <a:prstGeom prst="ellipse">
            <a:avLst/>
          </a:prstGeom>
          <a:solidFill>
            <a:srgbClr val="00D4FF">
              <a:alpha val="0"/>
            </a:srgbClr>
          </a:solidFill>
          <a:ln w="27940">
            <a:solidFill>
              <a:srgbClr val="00D4FF">
                <a:alpha val="36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62288" y="22677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传统工厂调度的三大痛点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响应、经验、扰动是工业现场的核心瓶颈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8368" y="1508760"/>
            <a:ext cx="3429000" cy="2971800"/>
          </a:xfrm>
          <a:prstGeom prst="roundRect">
            <a:avLst>
              <a:gd name="adj" fmla="val 2154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FFB800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8368" y="1508760"/>
            <a:ext cx="45720" cy="2971800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" y="17373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B800">
              <a:alpha val="82000"/>
            </a:srgbClr>
          </a:solidFill>
          <a:ln w="12700">
            <a:solidFill>
              <a:srgbClr val="FFB800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" y="18196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886968" y="2468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响应迟滞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886968" y="293522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设备故障后人工重排需数小时，每次停产损失数十万元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370832" y="1508760"/>
            <a:ext cx="3429000" cy="2971800"/>
          </a:xfrm>
          <a:prstGeom prst="roundRect">
            <a:avLst>
              <a:gd name="adj" fmla="val 2154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FF4444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70832" y="1508760"/>
            <a:ext cx="45720" cy="2971800"/>
          </a:xfrm>
          <a:prstGeom prst="rect">
            <a:avLst/>
          </a:prstGeom>
          <a:solidFill>
            <a:srgbClr val="F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81144" y="17373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4444">
              <a:alpha val="82000"/>
            </a:srgbClr>
          </a:solidFill>
          <a:ln w="12700">
            <a:solidFill>
              <a:srgbClr val="FF4444">
                <a:alpha val="7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36008" y="18196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4599432" y="2468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人工依赖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4599432" y="293522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调度经验难以沉淀复用，关键人员离职导致能力断层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083296" y="1508760"/>
            <a:ext cx="3429000" cy="2971800"/>
          </a:xfrm>
          <a:prstGeom prst="roundRect">
            <a:avLst>
              <a:gd name="adj" fmla="val 2154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FFB800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083296" y="1508760"/>
            <a:ext cx="45720" cy="2971800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93608" y="17373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B800">
              <a:alpha val="82000"/>
            </a:srgbClr>
          </a:solidFill>
          <a:ln w="12700">
            <a:solidFill>
              <a:srgbClr val="FFB800">
                <a:alpha val="7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48472" y="18196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8311896" y="2468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扰动处理弱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8311896" y="293522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紧急插单无法实时响应，订单延误率居高不下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32688" y="507492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" y="523036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贵州磷化工年产值超800亿 · 智能调度渗透率不足5%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秒级响应的AI调度系统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感知层 → 决策层 → 执行层的闭环智能调度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68680" y="1600200"/>
            <a:ext cx="6720840" cy="749808"/>
          </a:xfrm>
          <a:prstGeom prst="roundRect">
            <a:avLst>
              <a:gd name="adj" fmla="val 9756"/>
            </a:avLst>
          </a:prstGeom>
          <a:solidFill>
            <a:srgbClr val="00D4FF">
              <a:alpha val="92000"/>
            </a:srgbClr>
          </a:solidFill>
          <a:ln w="15240">
            <a:solidFill>
              <a:srgbClr val="00D4FF">
                <a:alpha val="9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感知层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880360" y="17830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IoT传感器 + 数字孪生工厂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886200" y="2423160"/>
            <a:ext cx="438912" cy="457200"/>
          </a:xfrm>
          <a:prstGeom prst="downArrow">
            <a:avLst/>
          </a:prstGeom>
          <a:solidFill>
            <a:srgbClr val="00D4FF">
              <a:alpha val="92000"/>
            </a:srgbClr>
          </a:solidFill>
          <a:ln w="1016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" y="2944368"/>
            <a:ext cx="6720840" cy="749808"/>
          </a:xfrm>
          <a:prstGeom prst="roundRect">
            <a:avLst>
              <a:gd name="adj" fmla="val 9756"/>
            </a:avLst>
          </a:prstGeom>
          <a:solidFill>
            <a:srgbClr val="7B61FF">
              <a:alpha val="92000"/>
            </a:srgbClr>
          </a:solidFill>
          <a:ln w="15240">
            <a:solidFill>
              <a:srgbClr val="7B61FF">
                <a:alpha val="9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决策层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2880360" y="312724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11个AI智能体协作 + 动态拓扑选择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886200" y="3767328"/>
            <a:ext cx="438912" cy="457200"/>
          </a:xfrm>
          <a:prstGeom prst="downArrow">
            <a:avLst/>
          </a:prstGeom>
          <a:solidFill>
            <a:srgbClr val="7B61FF">
              <a:alpha val="92000"/>
            </a:srgbClr>
          </a:solidFill>
          <a:ln w="1016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4297680"/>
            <a:ext cx="6720840" cy="749808"/>
          </a:xfrm>
          <a:prstGeom prst="roundRect">
            <a:avLst>
              <a:gd name="adj" fmla="val 9756"/>
            </a:avLst>
          </a:prstGeom>
          <a:solidFill>
            <a:srgbClr val="00FF88">
              <a:alpha val="92000"/>
            </a:srgbClr>
          </a:solidFill>
          <a:ln w="15240">
            <a:solidFill>
              <a:srgbClr val="00FF88">
                <a:alpha val="9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执行层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2880360" y="44805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CP-SAT约束规划求解 + 甘特图可视化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092440" y="1417320"/>
            <a:ext cx="3063240" cy="1261872"/>
          </a:xfrm>
          <a:prstGeom prst="roundRect">
            <a:avLst>
              <a:gd name="adj" fmla="val 5072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202168" y="164592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</a:t>
            </a:r>
            <a:endParaRPr lang="en-US" sz="6000" dirty="0"/>
          </a:p>
        </p:txBody>
      </p:sp>
      <p:sp>
        <p:nvSpPr>
          <p:cNvPr id="52" name="Text 50"/>
          <p:cNvSpPr/>
          <p:nvPr/>
        </p:nvSpPr>
        <p:spPr>
          <a:xfrm>
            <a:off x="8257032" y="246888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故障响应时间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092440" y="2880360"/>
            <a:ext cx="3063240" cy="1261872"/>
          </a:xfrm>
          <a:prstGeom prst="roundRect">
            <a:avLst>
              <a:gd name="adj" fmla="val 5072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FF88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202168" y="310896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6000" dirty="0"/>
          </a:p>
        </p:txBody>
      </p:sp>
      <p:sp>
        <p:nvSpPr>
          <p:cNvPr id="55" name="Text 53"/>
          <p:cNvSpPr/>
          <p:nvPr/>
        </p:nvSpPr>
        <p:spPr>
          <a:xfrm>
            <a:off x="8257032" y="393192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OEE最高提升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092440" y="4343400"/>
            <a:ext cx="3063240" cy="1261872"/>
          </a:xfrm>
          <a:prstGeom prst="roundRect">
            <a:avLst>
              <a:gd name="adj" fmla="val 5072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202168" y="457200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000" dirty="0"/>
          </a:p>
        </p:txBody>
      </p:sp>
      <p:sp>
        <p:nvSpPr>
          <p:cNvPr id="58" name="Text 56"/>
          <p:cNvSpPr/>
          <p:nvPr/>
        </p:nvSpPr>
        <p:spPr>
          <a:xfrm>
            <a:off x="8257032" y="539496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排产成本降低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动态图结构自适应选择（DynaSwarm）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不同工厂状态选择不同Agent协作拓扑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5715000" cy="3090672"/>
        </p:xfrm>
        <a:graphic>
          <a:graphicData uri="http://schemas.openxmlformats.org/drawingml/2006/table">
            <a:tbl>
              <a:tblPr/>
              <a:tblGrid>
                <a:gridCol w="1428750"/>
                <a:gridCol w="1428750"/>
                <a:gridCol w="1428750"/>
                <a:gridCol w="142875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拓扑类型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适用场景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Agent数量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特点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串行链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正常低负荷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4个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轻量快速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并行汇聚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中等复杂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7个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并行分析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层级树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多层任务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8个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分层协调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全连接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高复杂度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10个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充分协作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高风险审查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故障紧急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11个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多层审核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35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6720840" y="1481328"/>
            <a:ext cx="1691640" cy="1078992"/>
          </a:xfrm>
          <a:prstGeom prst="roundRect">
            <a:avLst>
              <a:gd name="adj" fmla="val 5932"/>
            </a:avLst>
          </a:prstGeom>
          <a:solidFill>
            <a:srgbClr val="0A1F3D">
              <a:alpha val="84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12280" y="1572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串行链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077456" y="2176272"/>
            <a:ext cx="457200" cy="0"/>
          </a:xfrm>
          <a:prstGeom prst="line">
            <a:avLst/>
          </a:prstGeom>
          <a:noFill/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534656" y="2176272"/>
            <a:ext cx="457200" cy="0"/>
          </a:xfrm>
          <a:prstGeom prst="line">
            <a:avLst/>
          </a:prstGeom>
          <a:noFill/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040880" y="213969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498080" y="213969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955280" y="213969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778240" y="1481328"/>
            <a:ext cx="1691640" cy="1078992"/>
          </a:xfrm>
          <a:prstGeom prst="roundRect">
            <a:avLst>
              <a:gd name="adj" fmla="val 5932"/>
            </a:avLst>
          </a:prstGeom>
          <a:solidFill>
            <a:srgbClr val="0A1F3D">
              <a:alpha val="84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869680" y="1572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并行汇聚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9134856" y="2020824"/>
            <a:ext cx="914400" cy="0"/>
          </a:xfrm>
          <a:prstGeom prst="line">
            <a:avLst/>
          </a:prstGeom>
          <a:noFill/>
          <a:ln w="12700">
            <a:solidFill>
              <a:srgbClr val="7B61FF">
                <a:alpha val="7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049256" y="2020824"/>
            <a:ext cx="-457200" cy="301752"/>
          </a:xfrm>
          <a:prstGeom prst="line">
            <a:avLst/>
          </a:prstGeom>
          <a:noFill/>
          <a:ln w="12700">
            <a:solidFill>
              <a:srgbClr val="7B61FF">
                <a:alpha val="75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098280" y="1984248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012680" y="1984248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555480" y="2286000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720840" y="2743200"/>
            <a:ext cx="1691640" cy="1078992"/>
          </a:xfrm>
          <a:prstGeom prst="roundRect">
            <a:avLst>
              <a:gd name="adj" fmla="val 5932"/>
            </a:avLst>
          </a:prstGeom>
          <a:solidFill>
            <a:srgbClr val="0A1F3D">
              <a:alpha val="84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12280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层级树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534656" y="3191256"/>
            <a:ext cx="-365760" cy="374904"/>
          </a:xfrm>
          <a:prstGeom prst="line">
            <a:avLst/>
          </a:prstGeom>
          <a:noFill/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168896" y="3566160"/>
            <a:ext cx="365760" cy="0"/>
          </a:xfrm>
          <a:prstGeom prst="line">
            <a:avLst/>
          </a:prstGeom>
          <a:noFill/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534656" y="3566160"/>
            <a:ext cx="365760" cy="0"/>
          </a:xfrm>
          <a:prstGeom prst="line">
            <a:avLst/>
          </a:prstGeom>
          <a:noFill/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98080" y="315468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132320" y="3529584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498080" y="3529584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863840" y="3529584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778240" y="2743200"/>
            <a:ext cx="1691640" cy="1078992"/>
          </a:xfrm>
          <a:prstGeom prst="roundRect">
            <a:avLst>
              <a:gd name="adj" fmla="val 5932"/>
            </a:avLst>
          </a:prstGeom>
          <a:solidFill>
            <a:srgbClr val="0A1F3D">
              <a:alpha val="84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869680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全连接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9253728" y="3255264"/>
            <a:ext cx="704088" cy="0"/>
          </a:xfrm>
          <a:prstGeom prst="line">
            <a:avLst/>
          </a:prstGeom>
          <a:noFill/>
          <a:ln w="12700">
            <a:solidFill>
              <a:srgbClr val="7B61FF">
                <a:alpha val="7500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957816" y="3255264"/>
            <a:ext cx="-704088" cy="347472"/>
          </a:xfrm>
          <a:prstGeom prst="line">
            <a:avLst/>
          </a:prstGeom>
          <a:noFill/>
          <a:ln w="12700">
            <a:solidFill>
              <a:srgbClr val="7B61FF">
                <a:alpha val="7500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253728" y="3602736"/>
            <a:ext cx="704088" cy="0"/>
          </a:xfrm>
          <a:prstGeom prst="line">
            <a:avLst/>
          </a:prstGeom>
          <a:noFill/>
          <a:ln w="12700">
            <a:solidFill>
              <a:srgbClr val="7B61FF">
                <a:alpha val="75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253728" y="3255264"/>
            <a:ext cx="704088" cy="347472"/>
          </a:xfrm>
          <a:prstGeom prst="line">
            <a:avLst/>
          </a:prstGeom>
          <a:noFill/>
          <a:ln w="10160">
            <a:solidFill>
              <a:srgbClr val="7B61FF">
                <a:alpha val="6500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957816" y="3255264"/>
            <a:ext cx="-704088" cy="347472"/>
          </a:xfrm>
          <a:prstGeom prst="line">
            <a:avLst/>
          </a:prstGeom>
          <a:noFill/>
          <a:ln w="10160">
            <a:solidFill>
              <a:srgbClr val="7B61FF">
                <a:alpha val="65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217152" y="3218688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921240" y="3218688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9217152" y="3566160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9921240" y="3566160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720840" y="4005072"/>
            <a:ext cx="1691640" cy="1078992"/>
          </a:xfrm>
          <a:prstGeom prst="roundRect">
            <a:avLst>
              <a:gd name="adj" fmla="val 5932"/>
            </a:avLst>
          </a:prstGeom>
          <a:solidFill>
            <a:srgbClr val="0A1F3D">
              <a:alpha val="84000"/>
            </a:srgbClr>
          </a:solidFill>
          <a:ln w="15240">
            <a:solidFill>
              <a:srgbClr val="FF4444">
                <a:alpha val="66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12280" y="40965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高风险审查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7077456" y="4544568"/>
            <a:ext cx="457200" cy="0"/>
          </a:xfrm>
          <a:prstGeom prst="line">
            <a:avLst/>
          </a:prstGeom>
          <a:noFill/>
          <a:ln w="12700">
            <a:solidFill>
              <a:srgbClr val="FF4444">
                <a:alpha val="7500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534656" y="4544568"/>
            <a:ext cx="457200" cy="0"/>
          </a:xfrm>
          <a:prstGeom prst="line">
            <a:avLst/>
          </a:prstGeom>
          <a:noFill/>
          <a:ln w="12700">
            <a:solidFill>
              <a:srgbClr val="FF4444">
                <a:alpha val="7500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991856" y="4544568"/>
            <a:ext cx="-457200" cy="320040"/>
          </a:xfrm>
          <a:prstGeom prst="line">
            <a:avLst/>
          </a:prstGeom>
          <a:noFill/>
          <a:ln w="12700">
            <a:solidFill>
              <a:srgbClr val="FF4444">
                <a:alpha val="7500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040880" y="4507992"/>
            <a:ext cx="109728" cy="10972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498080" y="4507992"/>
            <a:ext cx="109728" cy="10972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955280" y="4507992"/>
            <a:ext cx="109728" cy="10972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498080" y="4828032"/>
            <a:ext cx="109728" cy="10972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017520" y="5532120"/>
            <a:ext cx="6172200" cy="310896"/>
          </a:xfrm>
          <a:prstGeom prst="roundRect">
            <a:avLst>
              <a:gd name="adj" fmla="val 17647"/>
            </a:avLst>
          </a:prstGeom>
          <a:solidFill>
            <a:srgbClr val="06284A">
              <a:alpha val="92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3090672" y="5596128"/>
            <a:ext cx="6025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来源：EMNLP 2025顶会论文 DynaSwarm · A2C强化学习优化</a:t>
            </a:r>
            <a:endParaRPr lang="en-US" sz="880" dirty="0"/>
          </a:p>
        </p:txBody>
      </p:sp>
      <p:sp>
        <p:nvSpPr>
          <p:cNvPr id="85" name="Shape 82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ReflAct目标状态反射推理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 → 对齐 → 分析 → 动作，形成可解释可审计决策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" y="2011680"/>
            <a:ext cx="2176272" cy="1115568"/>
          </a:xfrm>
          <a:prstGeom prst="roundRect">
            <a:avLst>
              <a:gd name="adj" fmla="val 573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05840" y="222199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①观察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05840" y="25877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当前工厂状态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044952" y="2423160"/>
            <a:ext cx="438912" cy="256032"/>
          </a:xfrm>
          <a:prstGeom prst="rightArrow">
            <a:avLst/>
          </a:prstGeom>
          <a:solidFill>
            <a:srgbClr val="00D4FF">
              <a:alpha val="92000"/>
            </a:srgbClr>
          </a:solidFill>
          <a:ln w="1016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2011680"/>
            <a:ext cx="2176272" cy="1115568"/>
          </a:xfrm>
          <a:prstGeom prst="roundRect">
            <a:avLst>
              <a:gd name="adj" fmla="val 573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94760" y="222199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②对齐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794760" y="25877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与生产目标对比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833872" y="2423160"/>
            <a:ext cx="438912" cy="256032"/>
          </a:xfrm>
          <a:prstGeom prst="rightArrow">
            <a:avLst/>
          </a:prstGeom>
          <a:solidFill>
            <a:srgbClr val="7B61FF">
              <a:alpha val="92000"/>
            </a:srgbClr>
          </a:solidFill>
          <a:ln w="1016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2011680"/>
            <a:ext cx="2176272" cy="1115568"/>
          </a:xfrm>
          <a:prstGeom prst="roundRect">
            <a:avLst>
              <a:gd name="adj" fmla="val 573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FFB800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83680" y="222199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③分析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583680" y="25877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偏差识别风险评估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622792" y="2423160"/>
            <a:ext cx="438912" cy="256032"/>
          </a:xfrm>
          <a:prstGeom prst="rightArrow">
            <a:avLst/>
          </a:prstGeom>
          <a:solidFill>
            <a:srgbClr val="FFB800">
              <a:alpha val="92000"/>
            </a:srgbClr>
          </a:solidFill>
          <a:ln w="10160">
            <a:solidFill>
              <a:srgbClr val="FFB800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89720" y="2011680"/>
            <a:ext cx="2176272" cy="1115568"/>
          </a:xfrm>
          <a:prstGeom prst="roundRect">
            <a:avLst>
              <a:gd name="adj" fmla="val 573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FF88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372600" y="222199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④动作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372600" y="25877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输出可审计决策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68680" y="4160520"/>
            <a:ext cx="4919472" cy="1005840"/>
          </a:xfrm>
          <a:prstGeom prst="roundRect">
            <a:avLst>
              <a:gd name="adj" fmla="val 6364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8680" y="416052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3000" y="446227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豆包大模型驱动推理 · 11个专业智能体分工协作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0800" y="4160520"/>
            <a:ext cx="4919472" cy="1005840"/>
          </a:xfrm>
          <a:prstGeom prst="roundRect">
            <a:avLst>
              <a:gd name="adj" fmla="val 6364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0" y="4160520"/>
            <a:ext cx="45720" cy="100584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446227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来源EMNLP 2025 ReflAct论文 · 可解释可审计防幻觉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深度集成华为昇腾AI技术体系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全栈云服务与昇腾推理生态适配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" y="1417320"/>
            <a:ext cx="4709160" cy="658368"/>
          </a:xfrm>
          <a:prstGeom prst="roundRect">
            <a:avLst>
              <a:gd name="adj" fmla="val 9722"/>
            </a:avLst>
          </a:prstGeom>
          <a:solidFill>
            <a:srgbClr val="0A1F3D">
              <a:alpha val="88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" y="15361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6696" y="16184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81328" y="15361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盘古大模型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108960" y="15544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备用推理引擎接口预留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1417320"/>
            <a:ext cx="4709160" cy="658368"/>
          </a:xfrm>
          <a:prstGeom prst="roundRect">
            <a:avLst>
              <a:gd name="adj" fmla="val 9722"/>
            </a:avLst>
          </a:prstGeom>
          <a:solidFill>
            <a:srgbClr val="0A1F3D">
              <a:alpha val="88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7648" y="15361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16184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76288" y="15361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MindIE推理引擎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503920" y="15544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NPU加速推理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22960" y="2295144"/>
            <a:ext cx="4709160" cy="658368"/>
          </a:xfrm>
          <a:prstGeom prst="roundRect">
            <a:avLst>
              <a:gd name="adj" fmla="val 9722"/>
            </a:avLst>
          </a:prstGeom>
          <a:solidFill>
            <a:srgbClr val="0A1F3D">
              <a:alpha val="88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2688" y="241401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" y="249631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481328" y="24140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GaussDB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3108960" y="24323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历史调度知识库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217920" y="2295144"/>
            <a:ext cx="4709160" cy="658368"/>
          </a:xfrm>
          <a:prstGeom prst="roundRect">
            <a:avLst>
              <a:gd name="adj" fmla="val 9722"/>
            </a:avLst>
          </a:prstGeom>
          <a:solidFill>
            <a:srgbClr val="0A1F3D">
              <a:alpha val="88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27648" y="241401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91656" y="249631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76288" y="24140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IoTDA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8503920" y="24323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工厂传感器接入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22960" y="3172968"/>
            <a:ext cx="4709160" cy="658368"/>
          </a:xfrm>
          <a:prstGeom prst="roundRect">
            <a:avLst>
              <a:gd name="adj" fmla="val 9722"/>
            </a:avLst>
          </a:prstGeom>
          <a:solidFill>
            <a:srgbClr val="0A1F3D">
              <a:alpha val="88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2688" y="32918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6696" y="337413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481328" y="32918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EventGrid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3108960" y="33101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事件驱动实时触发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217920" y="3172968"/>
            <a:ext cx="4709160" cy="658368"/>
          </a:xfrm>
          <a:prstGeom prst="roundRect">
            <a:avLst>
              <a:gd name="adj" fmla="val 9722"/>
            </a:avLst>
          </a:prstGeom>
          <a:solidFill>
            <a:srgbClr val="0A1F3D">
              <a:alpha val="88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27648" y="32918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91656" y="337413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876288" y="32918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FunctionGraph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8503920" y="33101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无服务器弹性计算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22960" y="4050792"/>
            <a:ext cx="4709160" cy="658368"/>
          </a:xfrm>
          <a:prstGeom prst="roundRect">
            <a:avLst>
              <a:gd name="adj" fmla="val 9722"/>
            </a:avLst>
          </a:prstGeom>
          <a:solidFill>
            <a:srgbClr val="0A1F3D">
              <a:alpha val="88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2688" y="416966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6696" y="425196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481328" y="41696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ModelArts Studio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3108960" y="418795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模型部署管理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60120" y="5596128"/>
            <a:ext cx="10287000" cy="420624"/>
          </a:xfrm>
          <a:prstGeom prst="rect">
            <a:avLst/>
          </a:prstGeom>
          <a:solidFill>
            <a:srgbClr val="D61F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43000" y="5733288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部署区域：西南-贵阳一 · 充分体现昇腾算力价值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一屏掌控全局 · 工业数字孪生大屏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系统演示页预留真实Dashboard截图位置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508760" y="1371600"/>
            <a:ext cx="9144000" cy="4114800"/>
          </a:xfrm>
          <a:prstGeom prst="roundRect">
            <a:avLst>
              <a:gd name="adj" fmla="val 1556"/>
            </a:avLst>
          </a:prstGeom>
          <a:solidFill>
            <a:srgbClr val="06162F">
              <a:alpha val="96000"/>
            </a:srgbClr>
          </a:solidFill>
          <a:ln w="15240">
            <a:solidFill>
              <a:srgbClr val="00D4FF">
                <a:alpha val="8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1640" y="32644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【请插入系统Dashboard全屏截图】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600200" y="571500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06284A">
              <a:alpha val="92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73352" y="577900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3D工厂实时布局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3931920" y="571500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06284A">
              <a:alpha val="92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5072" y="577900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AI推理日志流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263640" y="571500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06284A">
              <a:alpha val="92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577900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排程甘特图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595360" y="571500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06284A">
              <a:alpha val="92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68512" y="577900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订单队列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FF4444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场景演示：设备故障秒级自动重排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故障前后状态对比，展示自动感知与重排流程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8368" y="1572768"/>
            <a:ext cx="4617720" cy="3429000"/>
          </a:xfrm>
          <a:prstGeom prst="roundRect">
            <a:avLst>
              <a:gd name="adj" fmla="val 1867"/>
            </a:avLst>
          </a:prstGeom>
          <a:solidFill>
            <a:srgbClr val="06162F">
              <a:alpha val="96000"/>
            </a:srgbClr>
          </a:solidFill>
          <a:ln w="15240">
            <a:solidFill>
              <a:srgbClr val="00FF88">
                <a:alpha val="8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31226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【插入故障前截图：所有机器绿色正常运行，OEE 91%】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513832" y="2724912"/>
            <a:ext cx="1024128" cy="475488"/>
          </a:xfrm>
          <a:prstGeom prst="rightArrow">
            <a:avLst/>
          </a:prstGeom>
          <a:solidFill>
            <a:srgbClr val="FF4444">
              <a:alpha val="92000"/>
            </a:srgbClr>
          </a:solidFill>
          <a:ln w="10160">
            <a:solidFill>
              <a:srgbClr val="FF4444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触发故障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&lt;3秒重排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03720" y="1572768"/>
            <a:ext cx="4617720" cy="3429000"/>
          </a:xfrm>
          <a:prstGeom prst="roundRect">
            <a:avLst>
              <a:gd name="adj" fmla="val 1867"/>
            </a:avLst>
          </a:prstGeom>
          <a:solidFill>
            <a:srgbClr val="06162F">
              <a:alpha val="96000"/>
            </a:srgbClr>
          </a:solidFill>
          <a:ln w="15240">
            <a:solidFill>
              <a:srgbClr val="FF4444">
                <a:alpha val="88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31226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【插入故障后截图：红色故障机器+高风险审查拓扑+AI日志】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场景演示：机器自动恢复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恢复事件触发后重新纳入调度资源池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" y="1417320"/>
            <a:ext cx="6903720" cy="1572768"/>
          </a:xfrm>
          <a:prstGeom prst="roundRect">
            <a:avLst>
              <a:gd name="adj" fmla="val 4070"/>
            </a:avLst>
          </a:prstGeom>
          <a:solidFill>
            <a:srgbClr val="06162F">
              <a:alpha val="96000"/>
            </a:srgbClr>
          </a:solidFill>
          <a:ln w="15240">
            <a:solidFill>
              <a:srgbClr val="FFB800">
                <a:alpha val="8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203911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【插入机器倒计时截图：显示预计XX分钟后自动恢复】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931920" y="3090672"/>
            <a:ext cx="411480" cy="438912"/>
          </a:xfrm>
          <a:prstGeom prst="downArrow">
            <a:avLst/>
          </a:prstGeom>
          <a:solidFill>
            <a:srgbClr val="00FF88">
              <a:alpha val="92000"/>
            </a:srgbClr>
          </a:solidFill>
          <a:ln w="1016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" y="3657600"/>
            <a:ext cx="6903720" cy="1572768"/>
          </a:xfrm>
          <a:prstGeom prst="roundRect">
            <a:avLst>
              <a:gd name="adj" fmla="val 4070"/>
            </a:avLst>
          </a:prstGeom>
          <a:solidFill>
            <a:srgbClr val="06162F">
              <a:alpha val="96000"/>
            </a:srgbClr>
          </a:solidFill>
          <a:ln w="15240">
            <a:solidFill>
              <a:srgbClr val="00FF88">
                <a:alpha val="8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427939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【插入恢复后截图：机器变绿+甘特图更新】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229600" y="1417320"/>
            <a:ext cx="2926080" cy="3813048"/>
          </a:xfrm>
          <a:prstGeom prst="roundRect">
            <a:avLst>
              <a:gd name="adj" fmla="val 218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FF88">
                <a:alpha val="6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1417320"/>
            <a:ext cx="45720" cy="3813048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9640" y="18288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故障发生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30-120分钟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自动恢复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AI重新纳入资源池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排程优化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5个国际标准数据集验证系统性能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Benchmark验证：公共数据集、最优值、差距与响应速度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881360" cy="3310128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作业数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机器数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本系统Makespan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最优已知值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ABZ9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SWV20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DMU80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暂无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B5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2057400" y="507492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167128" y="5303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200ms内</a:t>
            </a:r>
            <a:endParaRPr lang="en-US" sz="6000" dirty="0"/>
          </a:p>
        </p:txBody>
      </p:sp>
      <p:sp>
        <p:nvSpPr>
          <p:cNvPr id="42" name="Text 39"/>
          <p:cNvSpPr/>
          <p:nvPr/>
        </p:nvSpPr>
        <p:spPr>
          <a:xfrm>
            <a:off x="2221992" y="61264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最大求解时间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949440" y="507492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059168" y="5303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</a:t>
            </a:r>
            <a:endParaRPr lang="en-US" sz="6000" dirty="0"/>
          </a:p>
        </p:txBody>
      </p:sp>
      <p:sp>
        <p:nvSpPr>
          <p:cNvPr id="45" name="Text 42"/>
          <p:cNvSpPr/>
          <p:nvPr/>
        </p:nvSpPr>
        <p:spPr>
          <a:xfrm>
            <a:off x="7114032" y="61264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验证数据集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A2C强化学习训练拓扑选择策略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训练拓扑选择概率，提升动态场景适应能力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" y="1444752"/>
            <a:ext cx="5212080" cy="3337560"/>
          </a:xfrm>
          <a:prstGeom prst="roundRect">
            <a:avLst>
              <a:gd name="adj" fmla="val 1918"/>
            </a:avLst>
          </a:prstGeom>
          <a:solidFill>
            <a:srgbClr val="06162F">
              <a:alpha val="96000"/>
            </a:srgbClr>
          </a:solidFill>
          <a:ln w="15240">
            <a:solidFill>
              <a:srgbClr val="00D4FF">
                <a:alpha val="8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489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【插入A2C训练奖励曲线截图】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537960" y="1444752"/>
            <a:ext cx="4526280" cy="3337560"/>
          </a:xfrm>
          <a:prstGeom prst="roundRect">
            <a:avLst>
              <a:gd name="adj" fmla="val 191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1444752"/>
            <a:ext cx="45720" cy="333756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18288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并行汇聚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95360" y="1860804"/>
            <a:ext cx="2423160" cy="109728"/>
          </a:xfrm>
          <a:prstGeom prst="roundRect">
            <a:avLst>
              <a:gd name="adj" fmla="val 25000"/>
            </a:avLst>
          </a:prstGeom>
          <a:solidFill>
            <a:srgbClr val="173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0" y="1860804"/>
            <a:ext cx="1017727" cy="10972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55680" y="18150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03720" y="22585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高风险审查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595360" y="2290572"/>
            <a:ext cx="2423160" cy="109728"/>
          </a:xfrm>
          <a:prstGeom prst="roundRect">
            <a:avLst>
              <a:gd name="adj" fmla="val 25000"/>
            </a:avLst>
          </a:prstGeom>
          <a:solidFill>
            <a:srgbClr val="173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95360" y="2290572"/>
            <a:ext cx="678485" cy="109728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55680" y="22448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03720" y="268833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串行链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595360" y="2720340"/>
            <a:ext cx="2423160" cy="109728"/>
          </a:xfrm>
          <a:prstGeom prst="roundRect">
            <a:avLst>
              <a:gd name="adj" fmla="val 25000"/>
            </a:avLst>
          </a:prstGeom>
          <a:solidFill>
            <a:srgbClr val="173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0" y="2720340"/>
            <a:ext cx="363474" cy="10972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155680" y="26746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903720" y="31181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全连接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595360" y="3150108"/>
            <a:ext cx="2423160" cy="109728"/>
          </a:xfrm>
          <a:prstGeom prst="roundRect">
            <a:avLst>
              <a:gd name="adj" fmla="val 25000"/>
            </a:avLst>
          </a:prstGeom>
          <a:solidFill>
            <a:srgbClr val="173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5360" y="3150108"/>
            <a:ext cx="242316" cy="109728"/>
          </a:xfrm>
          <a:prstGeom prst="roundRect">
            <a:avLst>
              <a:gd name="adj" fmla="val 25000"/>
            </a:avLst>
          </a:prstGeom>
          <a:solidFill>
            <a:srgbClr val="FFB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155680" y="31043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03720" y="35478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层级树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95360" y="3579876"/>
            <a:ext cx="2423160" cy="109728"/>
          </a:xfrm>
          <a:prstGeom prst="roundRect">
            <a:avLst>
              <a:gd name="adj" fmla="val 25000"/>
            </a:avLst>
          </a:prstGeom>
          <a:solidFill>
            <a:srgbClr val="173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95360" y="3579876"/>
            <a:ext cx="121158" cy="109728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155680" y="35341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051560" y="5257800"/>
            <a:ext cx="9921240" cy="566928"/>
          </a:xfrm>
          <a:prstGeom prst="roundRect">
            <a:avLst>
              <a:gd name="adj" fmla="val 11290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FF88">
                <a:alpha val="66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61872" y="5431536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经过20轮训练，系统学会在高风险场景下自动切换高风险审查拓扑，相比固定拓扑策略降低排程延误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贵州重点工业场景深度适配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从磷化工、矿山到园区数字孪生的本地落地路径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68680" y="1600200"/>
            <a:ext cx="4892040" cy="1572768"/>
          </a:xfrm>
          <a:prstGeom prst="roundRect">
            <a:avLst>
              <a:gd name="adj" fmla="val 4070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68680" y="1600200"/>
            <a:ext cx="45720" cy="1572768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19110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673352" y="1929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磷化工生产调度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73352" y="2350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年产值800亿+ · 秒级重排降低停产损失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09360" y="1600200"/>
            <a:ext cx="4892040" cy="1572768"/>
          </a:xfrm>
          <a:prstGeom prst="roundRect">
            <a:avLst>
              <a:gd name="adj" fmla="val 4070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FFB800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1600200"/>
            <a:ext cx="45720" cy="1572768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19110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⛏️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114032" y="1929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非煤矿山作业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114032" y="2350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高危环境 · 高风险审查拓扑保障安全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3593592"/>
            <a:ext cx="4892040" cy="1572768"/>
          </a:xfrm>
          <a:prstGeom prst="roundRect">
            <a:avLst>
              <a:gd name="adj" fmla="val 4070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FF88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68680" y="3593592"/>
            <a:ext cx="45720" cy="1572768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39044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1673352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智能制造产线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73352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万企融合战略 · OEE提升5-15%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309360" y="3593592"/>
            <a:ext cx="4892040" cy="1572768"/>
          </a:xfrm>
          <a:prstGeom prst="roundRect">
            <a:avLst>
              <a:gd name="adj" fmla="val 4070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09360" y="3593592"/>
            <a:ext cx="45720" cy="1572768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37960" y="39044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114032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工业园区孪生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114032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IoT全链路 · 数据孤岛打通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可持续的商业化路径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由轻量SaaS切入，向行业平台和知识库授权演进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" y="1965960"/>
            <a:ext cx="3063240" cy="1920240"/>
          </a:xfrm>
          <a:prstGeom prst="roundRect">
            <a:avLst>
              <a:gd name="adj" fmla="val 3333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96696" y="2240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14984" y="27432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SaaS订阅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中小制造企业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按月收费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904488" y="2743200"/>
            <a:ext cx="438912" cy="292608"/>
          </a:xfrm>
          <a:prstGeom prst="rightArrow">
            <a:avLst/>
          </a:prstGeom>
          <a:solidFill>
            <a:srgbClr val="00D4FF">
              <a:alpha val="92000"/>
            </a:srgbClr>
          </a:solidFill>
          <a:ln w="1016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53712" y="1965960"/>
            <a:ext cx="3063240" cy="1920240"/>
          </a:xfrm>
          <a:prstGeom prst="roundRect">
            <a:avLst>
              <a:gd name="adj" fmla="val 3333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73168" y="2240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791456" y="27432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定制集成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大型工业企业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项目制交付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680960" y="2743200"/>
            <a:ext cx="438912" cy="292608"/>
          </a:xfrm>
          <a:prstGeom prst="rightArrow">
            <a:avLst/>
          </a:prstGeom>
          <a:solidFill>
            <a:srgbClr val="7B61FF">
              <a:alpha val="92000"/>
            </a:srgbClr>
          </a:solidFill>
          <a:ln w="1016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30184" y="1965960"/>
            <a:ext cx="3063240" cy="1920240"/>
          </a:xfrm>
          <a:prstGeom prst="roundRect">
            <a:avLst>
              <a:gd name="adj" fmla="val 3333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FF88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549640" y="2240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567928" y="27432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数据智能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行业平台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知识库授权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88720" y="4892040"/>
            <a:ext cx="9784080" cy="548640"/>
          </a:xfrm>
          <a:prstGeom prst="roundRect">
            <a:avLst>
              <a:gd name="adj" fmla="val 8333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0" y="5074920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目标市场：贵州及西南地区制造业 · 市场规模超500亿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747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团队介绍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30352" y="896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贵州大学网络与信息安全 · 工业AI与多智能体系统方向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1152144"/>
            <a:ext cx="11109960" cy="0"/>
          </a:xfrm>
          <a:prstGeom prst="line">
            <a:avLst/>
          </a:prstGeom>
          <a:noFill/>
          <a:ln w="1524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3931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234440" y="1508760"/>
            <a:ext cx="9784080" cy="4251960"/>
          </a:xfrm>
          <a:prstGeom prst="roundRect">
            <a:avLst>
              <a:gd name="adj" fmla="val 1505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965960" y="2423160"/>
            <a:ext cx="1417320" cy="1417320"/>
          </a:xfrm>
          <a:prstGeom prst="ellipse">
            <a:avLst/>
          </a:prstGeom>
          <a:solidFill>
            <a:srgbClr val="00D4FF">
              <a:alpha val="84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WJ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88620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王骏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3886200" y="25146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贵州大学网络与信息安全专业硕士研究生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指导教师：谭伟杰教授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贵州省公共大数据重点实验室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研究方向：IoT安全 · 多智能体系统 · 工业AI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GitHub：github.com/wjhard/DynaTwin-Swarm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27432"/>
            <a:ext cx="3154680" cy="3154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91440"/>
            <a:ext cx="2926080" cy="292608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736592"/>
            <a:ext cx="3383280" cy="19659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882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3928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12296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70664" y="182880"/>
            <a:ext cx="0" cy="6446520"/>
          </a:xfrm>
          <a:prstGeom prst="line">
            <a:avLst/>
          </a:prstGeom>
          <a:noFill/>
          <a:ln w="4445">
            <a:solidFill>
              <a:srgbClr val="134A7A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004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97840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63677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29514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5351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611880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70248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928616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5586984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6245352"/>
            <a:ext cx="11795760" cy="0"/>
          </a:xfrm>
          <a:prstGeom prst="line">
            <a:avLst/>
          </a:prstGeom>
          <a:noFill/>
          <a:ln w="4445">
            <a:solidFill>
              <a:srgbClr val="134A7A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658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核心价值总结</a:t>
            </a:r>
            <a:endParaRPr lang="en-US" sz="4200" dirty="0"/>
          </a:p>
        </p:txBody>
      </p:sp>
      <p:sp>
        <p:nvSpPr>
          <p:cNvPr id="36" name="Shape 34"/>
          <p:cNvSpPr/>
          <p:nvPr/>
        </p:nvSpPr>
        <p:spPr>
          <a:xfrm>
            <a:off x="1828800" y="1600200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D4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0" y="1600200"/>
            <a:ext cx="45720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21408" y="1810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顶会论文工程化落地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5715000" y="1828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EMNLP 2025两篇论文首次工业落地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828800" y="2770632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7B61FF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828800" y="2770632"/>
            <a:ext cx="45720" cy="82296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1408" y="29809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 华为昇腾全栈集成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5715000" y="2999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贵阳一区域算力深度对接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828800" y="3941064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0A1F3D">
              <a:alpha val="92000"/>
            </a:srgbClr>
          </a:solidFill>
          <a:ln w="15240">
            <a:solidFill>
              <a:srgbClr val="00FF88">
                <a:alpha val="6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828800" y="3941064"/>
            <a:ext cx="45720" cy="82296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21408" y="41513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贵州工业场景适配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5715000" y="41696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磷化工矿山落地方案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828800" y="526694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感谢评委老师 · 期待交流指导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2148840" y="58064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2330708544@qq.com · github.com/wjhard/DynaTwin-Swarm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30352" y="6428232"/>
            <a:ext cx="11109960" cy="0"/>
          </a:xfrm>
          <a:prstGeom prst="line">
            <a:avLst/>
          </a:prstGeom>
          <a:noFill/>
          <a:ln w="7620">
            <a:solidFill>
              <a:srgbClr val="134A7A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DynaTwin-Swarm · Guizhou University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F73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Guizhou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DynaTwin-Swarm路演PPT</dc:title>
  <dc:subject>贵州省人工智能创业大赛路演PPT</dc:subject>
  <dc:creator>DynaTwin-Swarm</dc:creator>
  <cp:lastModifiedBy>DynaTwin-Swarm</cp:lastModifiedBy>
  <cp:revision>1</cp:revision>
  <dcterms:created xsi:type="dcterms:W3CDTF">2026-06-17T13:13:16Z</dcterms:created>
  <dcterms:modified xsi:type="dcterms:W3CDTF">2026-06-17T13:13:16Z</dcterms:modified>
</cp:coreProperties>
</file>